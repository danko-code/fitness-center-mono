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notesMasterIdLst>
    <p:notesMasterId r:id="rId18"/>
  </p:notesMasterIdLst>
  <p:handoutMasterIdLst>
    <p:handoutMasterId r:id="rId19"/>
  </p:handoutMasterIdLst>
  <p:sldIdLst>
    <p:sldId id="500" r:id="rId2"/>
    <p:sldId id="542" r:id="rId3"/>
    <p:sldId id="587" r:id="rId4"/>
    <p:sldId id="544" r:id="rId5"/>
    <p:sldId id="577" r:id="rId6"/>
    <p:sldId id="581" r:id="rId7"/>
    <p:sldId id="583" r:id="rId8"/>
    <p:sldId id="584" r:id="rId9"/>
    <p:sldId id="580" r:id="rId10"/>
    <p:sldId id="546" r:id="rId11"/>
    <p:sldId id="585" r:id="rId12"/>
    <p:sldId id="586" r:id="rId13"/>
    <p:sldId id="575" r:id="rId14"/>
    <p:sldId id="568" r:id="rId15"/>
    <p:sldId id="560" r:id="rId16"/>
    <p:sldId id="578" r:id="rId17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489" userDrawn="1">
          <p15:clr>
            <a:srgbClr val="A4A3A4"/>
          </p15:clr>
        </p15:guide>
        <p15:guide id="4" orient="horz" pos="3001" userDrawn="1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onebrook, Shannon" initials="SS" lastIdx="7" clrIdx="0"/>
  <p:cmAuthor id="2" name="Volha Chekun" initials="VC" lastIdx="36" clrIdx="1">
    <p:extLst>
      <p:ext uri="{19B8F6BF-5375-455C-9EA6-DF929625EA0E}">
        <p15:presenceInfo xmlns:p15="http://schemas.microsoft.com/office/powerpoint/2012/main" userId="S-1-5-21-307287956-644454935-2370743088-19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4E2E2"/>
    <a:srgbClr val="F0AB00"/>
    <a:srgbClr val="003283"/>
    <a:srgbClr val="FF0000"/>
    <a:srgbClr val="666666"/>
    <a:srgbClr val="2B3F7B"/>
    <a:srgbClr val="9C277B"/>
    <a:srgbClr val="D4652D"/>
    <a:srgbClr val="9E3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05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528" y="48"/>
      </p:cViewPr>
      <p:guideLst>
        <p:guide orient="horz" pos="1489"/>
        <p:guide orient="horz" pos="3001"/>
        <p:guide pos="7478"/>
        <p:guide pos="205"/>
        <p:guide pos="3849"/>
        <p:guide pos="4708"/>
        <p:guide pos="4812"/>
        <p:guide pos="2865"/>
        <p:guide pos="2956"/>
      </p:guideLst>
    </p:cSldViewPr>
  </p:slideViewPr>
  <p:outlineViewPr>
    <p:cViewPr>
      <p:scale>
        <a:sx n="33" d="100"/>
        <a:sy n="33" d="100"/>
      </p:scale>
      <p:origin x="0" y="-14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274" y="34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3200" smtClean="0"/>
              <a:pPr algn="ctr"/>
              <a:t>‹#›</a:t>
            </a:fld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9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397" y="1122623"/>
            <a:ext cx="9146381" cy="238815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397" y="3602872"/>
            <a:ext cx="9146381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2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0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2067" y="1710134"/>
            <a:ext cx="10518338" cy="285339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2067" y="4590526"/>
            <a:ext cx="10518338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58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4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7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2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418" y="1826048"/>
            <a:ext cx="5182949" cy="435234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3808" y="1826048"/>
            <a:ext cx="5182949" cy="435234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5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365210"/>
            <a:ext cx="10518338" cy="132587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40007" y="1681552"/>
            <a:ext cx="5159130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40007" y="2505655"/>
            <a:ext cx="5159130" cy="3685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3807" y="1681552"/>
            <a:ext cx="5184538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3807" y="2505655"/>
            <a:ext cx="5184538" cy="3685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2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75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/>
            </a:lvl1pPr>
          </a:lstStyle>
          <a:p>
            <a:fld id="{2E393DAE-5736-476F-B9D8-B914639683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0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 marL="0" indent="0">
              <a:buNone/>
              <a:defRPr sz="3201"/>
            </a:lvl1pPr>
            <a:lvl2pPr marL="457291" indent="0">
              <a:buNone/>
              <a:defRPr sz="2801"/>
            </a:lvl2pPr>
            <a:lvl3pPr marL="914583" indent="0">
              <a:buNone/>
              <a:defRPr sz="2400"/>
            </a:lvl3pPr>
            <a:lvl4pPr marL="1371874" indent="0">
              <a:buNone/>
              <a:defRPr sz="2000"/>
            </a:lvl4pPr>
            <a:lvl5pPr marL="1829166" indent="0">
              <a:buNone/>
              <a:defRPr sz="2000"/>
            </a:lvl5pPr>
            <a:lvl6pPr marL="2286457" indent="0">
              <a:buNone/>
              <a:defRPr sz="2000"/>
            </a:lvl6pPr>
            <a:lvl7pPr marL="2743749" indent="0">
              <a:buNone/>
              <a:defRPr sz="2000"/>
            </a:lvl7pPr>
            <a:lvl8pPr marL="3201040" indent="0">
              <a:buNone/>
              <a:defRPr sz="2000"/>
            </a:lvl8pPr>
            <a:lvl9pPr marL="365833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7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7172" y="365209"/>
            <a:ext cx="2629585" cy="581318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418" y="365209"/>
            <a:ext cx="7736314" cy="581318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29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with picture - shor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12000"/>
            <a:ext cx="10620000" cy="276999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800" dirty="0"/>
              <a:t>Speaker’s Name, SAP / Month 00, 2016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99" y="2115530"/>
            <a:ext cx="1477566" cy="28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37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24000" y="1691078"/>
            <a:ext cx="11545200" cy="43920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32B27A6-3571-45AB-85F8-620E45CC8D8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6D4219-88C2-4B41-8551-E8C9ECC384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CAB69-0829-4F78-8838-952E312672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77579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Insert page title</a:t>
            </a:r>
            <a:endParaRPr lang="en-US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20A472C-4C87-40ED-9F46-A7FE16AE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A8F7401-F355-459F-8B8D-87321DAC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73F283-187A-4CE4-B2B3-8B605D88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sz="7200" b="0" i="1"/>
            </a:lvl1pPr>
          </a:lstStyle>
          <a:p>
            <a:fld id="{2E393DAE-5736-476F-B9D8-B914639683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8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9" y="365210"/>
            <a:ext cx="10518338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419" y="1826048"/>
            <a:ext cx="10518338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418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9652" y="6357822"/>
            <a:ext cx="4115872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2843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93DAE-5736-476F-B9D8-B914639683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94"/>
          <p:cNvSpPr/>
          <p:nvPr userDrawn="1"/>
        </p:nvSpPr>
        <p:spPr bwMode="white">
          <a:xfrm>
            <a:off x="324000" y="6537251"/>
            <a:ext cx="11545200" cy="324075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TextBox 8"/>
          <p:cNvSpPr txBox="1"/>
          <p:nvPr userDrawn="1"/>
        </p:nvSpPr>
        <p:spPr bwMode="black">
          <a:xfrm>
            <a:off x="324000" y="6630039"/>
            <a:ext cx="3401577" cy="138499"/>
          </a:xfrm>
          <a:prstGeom prst="rect">
            <a:avLst/>
          </a:prstGeom>
          <a:noFill/>
        </p:spPr>
        <p:txBody>
          <a:bodyPr wrap="none" lIns="85730" tIns="0" rIns="0" bIns="0" rtlCol="0">
            <a:spAutoFit/>
          </a:bodyPr>
          <a:lstStyle/>
          <a:p>
            <a:pPr marL="133200" indent="-133200" algn="l">
              <a:buClr>
                <a:schemeClr val="bg1"/>
              </a:buClr>
              <a:buFont typeface="Arial" pitchFamily="34" charset="0"/>
              <a:buChar char="©"/>
              <a:tabLst/>
            </a:pPr>
            <a:r>
              <a:rPr lang="en-US" sz="900" noProof="0" dirty="0">
                <a:solidFill>
                  <a:schemeClr val="bg1"/>
                </a:solidFill>
              </a:rPr>
              <a:t>2016 SAP SE or an SAP affiliate company. All rights reserved.</a:t>
            </a: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11359609" y="6501118"/>
            <a:ext cx="554656" cy="369332"/>
          </a:xfrm>
          <a:prstGeom prst="rect">
            <a:avLst/>
          </a:prstGeom>
          <a:noFill/>
        </p:spPr>
        <p:txBody>
          <a:bodyPr wrap="squar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24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‹#›</a:t>
            </a:fld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Information_Classification"/>
          <p:cNvSpPr txBox="1"/>
          <p:nvPr userDrawn="1"/>
        </p:nvSpPr>
        <p:spPr>
          <a:xfrm>
            <a:off x="10718800" y="6623893"/>
            <a:ext cx="500137" cy="1384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l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kumimoji="0" lang="en-US" sz="900" b="0" i="0" u="none" kern="0" baseline="0" dirty="0">
                <a:solidFill>
                  <a:srgbClr val="FFFFFF"/>
                </a:solidFill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  <a:sym typeface="Arial" panose="020B0604020202020204" pitchFamily="34" charset="0"/>
              </a:rPr>
              <a:t>Customer</a:t>
            </a:r>
          </a:p>
        </p:txBody>
      </p:sp>
    </p:spTree>
    <p:extLst>
      <p:ext uri="{BB962C8B-B14F-4D97-AF65-F5344CB8AC3E}">
        <p14:creationId xmlns:p14="http://schemas.microsoft.com/office/powerpoint/2010/main" val="77997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4" r:id="rId14"/>
  </p:sldLayoutIdLst>
  <p:hf hdr="0" ftr="0" dt="0"/>
  <p:txStyles>
    <p:titleStyle>
      <a:lvl1pPr algn="l" defTabSz="914583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46" indent="-228646" algn="l" defTabSz="91458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29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20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11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03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394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86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97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91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83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74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66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57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49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4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32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463528F-7517-49F6-A62B-68EA3872F768}"/>
              </a:ext>
            </a:extLst>
          </p:cNvPr>
          <p:cNvSpPr/>
          <p:nvPr/>
        </p:nvSpPr>
        <p:spPr bwMode="gray">
          <a:xfrm>
            <a:off x="324000" y="162038"/>
            <a:ext cx="11545200" cy="5688256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ru-RU" sz="2000" dirty="0"/>
              <a:t>			</a:t>
            </a:r>
            <a:br>
              <a:rPr lang="ru-RU" dirty="0"/>
            </a:b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Rectangle 10"/>
          <p:cNvSpPr/>
          <p:nvPr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00" y="172078"/>
            <a:ext cx="11650530" cy="5944934"/>
          </a:xfrm>
        </p:spPr>
        <p:txBody>
          <a:bodyPr/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РЕСПУБЛИКИ БЕЛАРУСЬ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Учреждения образования «БЕЛОРУССКИЙ ГОСУДАРСТВЕННЫЙ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УНИВЕРСИТЕТ»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информационных технологий</a:t>
            </a:r>
            <a:b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программной инженерии</a:t>
            </a:r>
            <a:b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дипломного проекта: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 для фитнес-центра «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»»</a:t>
            </a:r>
            <a:b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Дипломник:       Козляковский Данила Александрович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Руководитель:    ст. пр. Сухорукова Ирина Геннадьевна				     	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70DD81-2FD7-4C5A-B58B-8FF0F815BC38}"/>
              </a:ext>
            </a:extLst>
          </p:cNvPr>
          <p:cNvSpPr/>
          <p:nvPr/>
        </p:nvSpPr>
        <p:spPr bwMode="gray">
          <a:xfrm>
            <a:off x="323999" y="5850294"/>
            <a:ext cx="11545201" cy="1009294"/>
          </a:xfrm>
          <a:prstGeom prst="rect">
            <a:avLst/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Минск</a:t>
            </a:r>
            <a:r>
              <a:rPr kumimoji="0" lang="ru-RU" sz="20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2025</a:t>
            </a:r>
            <a:endParaRPr kumimoji="0" lang="en-US" sz="20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Arial Unicode MS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4000" y="1856509"/>
            <a:ext cx="1643345" cy="895927"/>
          </a:xfrm>
          <a:prstGeom prst="rect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41" y="5943251"/>
            <a:ext cx="778408" cy="86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8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ru-RU" b="0" dirty="0"/>
          </a:p>
          <a:p>
            <a:pPr marL="0" indent="0">
              <a:buNone/>
            </a:pPr>
            <a:r>
              <a:rPr lang="ru-RU" b="0" dirty="0"/>
              <a:t>			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641738" y="2118883"/>
            <a:ext cx="10909724" cy="2515870"/>
          </a:xfrm>
          <a:prstGeom prst="rect">
            <a:avLst/>
          </a:prstGeom>
        </p:spPr>
        <p:txBody>
          <a:bodyPr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96" indent="-514350" algn="just">
              <a:buFont typeface="+mj-lt"/>
              <a:buAutoNum type="arabicPeriod"/>
            </a:pPr>
            <a:r>
              <a:rPr lang="ru-RU" sz="2800" dirty="0">
                <a:ea typeface="Times New Roman" panose="02020603050405020304" pitchFamily="18" charset="0"/>
              </a:rPr>
              <a:t>Желание т</a:t>
            </a:r>
            <a:r>
              <a:rPr lang="ru-RU" sz="2800" dirty="0">
                <a:effectLst/>
                <a:ea typeface="Times New Roman" panose="02020603050405020304" pitchFamily="18" charset="0"/>
              </a:rPr>
              <a:t>ренироваться под руководством профессиональных тренеров из разных уголков мира независимо от их местоположения. </a:t>
            </a:r>
          </a:p>
          <a:p>
            <a:pPr marL="742996" indent="-514350" algn="just">
              <a:buFont typeface="+mj-lt"/>
              <a:buAutoNum type="arabicPeriod"/>
            </a:pPr>
            <a:r>
              <a:rPr lang="ru-RU" sz="2800" dirty="0">
                <a:effectLst/>
                <a:ea typeface="Times New Roman" panose="02020603050405020304" pitchFamily="18" charset="0"/>
              </a:rPr>
              <a:t>Автоматизаци</a:t>
            </a:r>
            <a:r>
              <a:rPr lang="ru-RU" sz="2800" dirty="0">
                <a:ea typeface="Times New Roman" panose="02020603050405020304" pitchFamily="18" charset="0"/>
              </a:rPr>
              <a:t>я процессов покупки абонементов</a:t>
            </a:r>
            <a:endParaRPr lang="ru-RU" sz="28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51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r>
              <a:rPr lang="ru-RU" dirty="0"/>
              <a:t> 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дипломного проекта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ru-RU" b="0" dirty="0"/>
          </a:p>
          <a:p>
            <a:pPr marL="0" indent="0">
              <a:buNone/>
            </a:pPr>
            <a:r>
              <a:rPr lang="ru-RU" b="0" dirty="0"/>
              <a:t>			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838419" y="3016948"/>
            <a:ext cx="10909724" cy="1314123"/>
          </a:xfrm>
          <a:prstGeom prst="rect">
            <a:avLst/>
          </a:prstGeom>
        </p:spPr>
        <p:txBody>
          <a:bodyPr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None/>
            </a:pPr>
            <a:r>
              <a:rPr lang="ru-RU" sz="2400" dirty="0"/>
              <a:t>Повысить эффективность работы,</a:t>
            </a:r>
            <a:r>
              <a:rPr lang="en-US" sz="2400" dirty="0"/>
              <a:t> </a:t>
            </a:r>
            <a:r>
              <a:rPr lang="ru-RU" sz="2400" dirty="0"/>
              <a:t>количество клиентов и доход фитнес-центра</a:t>
            </a:r>
          </a:p>
        </p:txBody>
      </p:sp>
    </p:spTree>
    <p:extLst>
      <p:ext uri="{BB962C8B-B14F-4D97-AF65-F5344CB8AC3E}">
        <p14:creationId xmlns:p14="http://schemas.microsoft.com/office/powerpoint/2010/main" val="260368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7" y="324446"/>
            <a:ext cx="10518338" cy="1325870"/>
          </a:xfrm>
        </p:spPr>
        <p:txBody>
          <a:bodyPr/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 дипломного проекта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Текст 2"/>
          <p:cNvSpPr txBox="1">
            <a:spLocks/>
          </p:cNvSpPr>
          <p:nvPr/>
        </p:nvSpPr>
        <p:spPr>
          <a:xfrm>
            <a:off x="744132" y="1520913"/>
            <a:ext cx="10706907" cy="275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2628" indent="-342900" algn="just">
              <a:buFont typeface="+mj-lt"/>
              <a:buAutoNum type="arabicPeriod"/>
            </a:pPr>
            <a:r>
              <a:rPr lang="ru-RU" sz="2800" dirty="0"/>
              <a:t>провести анализ существующих интернет-ресурсов;</a:t>
            </a:r>
          </a:p>
          <a:p>
            <a:pPr marL="452628" indent="-342900" algn="just">
              <a:buFont typeface="+mj-lt"/>
              <a:buAutoNum type="arabicPeriod"/>
            </a:pPr>
            <a:r>
              <a:rPr lang="ru-RU" sz="2800" dirty="0"/>
              <a:t>спроектировать архитектуру веб-приложения;</a:t>
            </a:r>
          </a:p>
          <a:p>
            <a:pPr marL="452628" indent="-342900" algn="just">
              <a:buFont typeface="+mj-lt"/>
              <a:buAutoNum type="arabicPeriod"/>
            </a:pPr>
            <a:r>
              <a:rPr lang="ru-RU" sz="2800" dirty="0"/>
              <a:t>реализовать веб-приложение;</a:t>
            </a:r>
          </a:p>
          <a:p>
            <a:pPr marL="452628" indent="-342900" algn="just">
              <a:buFont typeface="+mj-lt"/>
              <a:buAutoNum type="arabicPeriod"/>
            </a:pPr>
            <a:r>
              <a:rPr lang="ru-RU" sz="2800" dirty="0"/>
              <a:t>провести тестирование</a:t>
            </a:r>
            <a:r>
              <a:rPr lang="en-US" sz="2800" dirty="0"/>
              <a:t>;</a:t>
            </a:r>
            <a:endParaRPr lang="ru-RU" sz="2800" dirty="0"/>
          </a:p>
          <a:p>
            <a:pPr marL="452628" indent="-342900" algn="just">
              <a:buFont typeface="+mj-lt"/>
              <a:buAutoNum type="arabicPeriod"/>
            </a:pPr>
            <a:r>
              <a:rPr lang="ru-RU" sz="2800" dirty="0"/>
              <a:t>разработать руководство пользователя;</a:t>
            </a:r>
          </a:p>
          <a:p>
            <a:pPr marL="452628" indent="-342900" algn="just">
              <a:buFont typeface="+mj-lt"/>
              <a:buAutoNum type="arabicPeriod"/>
            </a:pPr>
            <a:r>
              <a:rPr lang="ru-RU" sz="2800" dirty="0"/>
              <a:t>провести технико-экономическое обоснование проекта.</a:t>
            </a:r>
          </a:p>
          <a:p>
            <a:pPr marL="109728" indent="0" algn="just">
              <a:buFont typeface="Arial" panose="020B0604020202020204" pitchFamily="34" charset="0"/>
              <a:buNone/>
            </a:pPr>
            <a:endParaRPr lang="ru-RU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5611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8" y="-59431"/>
            <a:ext cx="10518338" cy="1325870"/>
          </a:xfrm>
        </p:spPr>
        <p:txBody>
          <a:bodyPr/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Прототипы и аналоги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1" descr="A screenshot of a website&#10;&#10;AI-generated content may be incorrect.">
            <a:extLst>
              <a:ext uri="{FF2B5EF4-FFF2-40B4-BE49-F238E27FC236}">
                <a16:creationId xmlns:a16="http://schemas.microsoft.com/office/drawing/2014/main" id="{EB7BB9D9-5E3B-43E6-85FF-FE4129DC82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8588" y="1027540"/>
            <a:ext cx="4417638" cy="2402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1" descr="A person with a basketball&#10;&#10;AI-generated content may be incorrect.">
            <a:extLst>
              <a:ext uri="{FF2B5EF4-FFF2-40B4-BE49-F238E27FC236}">
                <a16:creationId xmlns:a16="http://schemas.microsoft.com/office/drawing/2014/main" id="{DDBFD36A-84D5-4108-ABBB-81186C55CFB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89059" y="3670598"/>
            <a:ext cx="5247528" cy="2610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DC56B6-DC35-444C-9A0E-511B9787EF27}"/>
              </a:ext>
            </a:extLst>
          </p:cNvPr>
          <p:cNvSpPr txBox="1"/>
          <p:nvPr/>
        </p:nvSpPr>
        <p:spPr>
          <a:xfrm>
            <a:off x="5166410" y="1027540"/>
            <a:ext cx="60976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effectLst/>
                <a:latin typeface="+mn-lt"/>
                <a:ea typeface="Times New Roman" panose="02020603050405020304" pitchFamily="18" charset="0"/>
              </a:rPr>
              <a:t>Сайт фитнес-центра «Zona531», представляет собой сайт для фитнес-центра, предоставляющий подробную информацию об услугах, расписании и тренерском составе.</a:t>
            </a:r>
            <a:endParaRPr lang="ru-RU" sz="28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330B7-0A4A-498D-83CC-F85FBABFE9E2}"/>
              </a:ext>
            </a:extLst>
          </p:cNvPr>
          <p:cNvSpPr txBox="1"/>
          <p:nvPr/>
        </p:nvSpPr>
        <p:spPr>
          <a:xfrm>
            <a:off x="358588" y="3670598"/>
            <a:ext cx="623047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effectLst/>
                <a:latin typeface="+mn-lt"/>
                <a:ea typeface="Times New Roman" panose="02020603050405020304" pitchFamily="18" charset="0"/>
              </a:rPr>
              <a:t>Сайт фитнес-центра «Fitness-club.by» представляет собой информационную платформу, предоставляющую пользователям доступ к расписанию занятий, описаниям услуг, информации о тренерах и ценам на абонементы.</a:t>
            </a:r>
            <a:endParaRPr lang="ru-RU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787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8EE8DC-4268-434A-AF34-30DCCCEDC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824" y="172713"/>
            <a:ext cx="6786739" cy="6337627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DF2E788-7F69-46D0-9DCE-DD3435A5F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08" y="-84796"/>
            <a:ext cx="10518338" cy="132587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</a:t>
            </a:r>
            <a:endParaRPr lang="en-US" sz="32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92B0169-7F33-4818-8A88-55A7C7226AD0}"/>
              </a:ext>
            </a:extLst>
          </p:cNvPr>
          <p:cNvSpPr/>
          <p:nvPr/>
        </p:nvSpPr>
        <p:spPr>
          <a:xfrm>
            <a:off x="-170332" y="873155"/>
            <a:ext cx="8721217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Функциональность</a:t>
            </a:r>
            <a:endParaRPr lang="en-US" sz="28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680D130-AD36-4F54-AE05-1612B5953ECC}"/>
              </a:ext>
            </a:extLst>
          </p:cNvPr>
          <p:cNvSpPr/>
          <p:nvPr/>
        </p:nvSpPr>
        <p:spPr>
          <a:xfrm>
            <a:off x="-161308" y="1323357"/>
            <a:ext cx="11873171" cy="425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Количество функций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26.</a:t>
            </a:r>
            <a:endParaRPr lang="en-US" sz="2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935379-510A-446C-8518-C35709E2FAAE}"/>
              </a:ext>
            </a:extLst>
          </p:cNvPr>
          <p:cNvSpPr txBox="1"/>
          <p:nvPr/>
        </p:nvSpPr>
        <p:spPr>
          <a:xfrm>
            <a:off x="-161308" y="1739628"/>
            <a:ext cx="6181164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Роли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Клиент, Администратор,</a:t>
            </a: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ru-RU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тренер.</a:t>
            </a:r>
            <a:endParaRPr lang="en-US" sz="1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3FB51-0481-4D12-9214-630E0776D1E9}"/>
              </a:ext>
            </a:extLst>
          </p:cNvPr>
          <p:cNvSpPr txBox="1"/>
          <p:nvPr/>
        </p:nvSpPr>
        <p:spPr>
          <a:xfrm>
            <a:off x="282608" y="3361754"/>
            <a:ext cx="25502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Клиент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онлайн-тренировок, покупка абонементов, комментарии к тренерам и персонализация.</a:t>
            </a:r>
            <a:endParaRPr lang="ru-RU" sz="18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B79BF8D-A989-4BF8-B3EB-E7C97DE1A24A}"/>
              </a:ext>
            </a:extLst>
          </p:cNvPr>
          <p:cNvSpPr/>
          <p:nvPr/>
        </p:nvSpPr>
        <p:spPr>
          <a:xfrm>
            <a:off x="8649176" y="2013949"/>
            <a:ext cx="3545999" cy="1347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Администратор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редактирование абонементов и тренеров, удаление клиентов. </a:t>
            </a:r>
            <a:endParaRPr lang="en-US" sz="1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3DC5545-6566-40F2-9A8A-F41605860BDD}"/>
              </a:ext>
            </a:extLst>
          </p:cNvPr>
          <p:cNvSpPr/>
          <p:nvPr/>
        </p:nvSpPr>
        <p:spPr>
          <a:xfrm>
            <a:off x="8687503" y="5317195"/>
            <a:ext cx="3469343" cy="1029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Тренер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ведение онлайн-тренировки в назначенное время.</a:t>
            </a:r>
            <a:endParaRPr lang="en-US" sz="1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058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9" y="304250"/>
            <a:ext cx="10518338" cy="132587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510986" y="1771819"/>
            <a:ext cx="11555117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База данных будет содержать одиннадцать таблиц</a:t>
            </a:r>
            <a:r>
              <a:rPr lang="en-US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592E172-51B4-4EAA-835D-E45B527BE098}"/>
              </a:ext>
            </a:extLst>
          </p:cNvPr>
          <p:cNvSpPr/>
          <p:nvPr/>
        </p:nvSpPr>
        <p:spPr>
          <a:xfrm>
            <a:off x="510986" y="1227276"/>
            <a:ext cx="8721217" cy="625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32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Проектирование БД</a:t>
            </a:r>
            <a:endParaRPr lang="en-US" sz="32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Объект 4">
            <a:extLst>
              <a:ext uri="{FF2B5EF4-FFF2-40B4-BE49-F238E27FC236}">
                <a16:creationId xmlns:a16="http://schemas.microsoft.com/office/drawing/2014/main" id="{C26BD744-2726-4D37-922D-53E048D622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9319154"/>
              </p:ext>
            </p:extLst>
          </p:nvPr>
        </p:nvGraphicFramePr>
        <p:xfrm>
          <a:off x="1050622" y="2553146"/>
          <a:ext cx="10475844" cy="3477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5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313">
                  <a:extLst>
                    <a:ext uri="{9D8B030D-6E8A-4147-A177-3AD203B41FA5}">
                      <a16:colId xmlns:a16="http://schemas.microsoft.com/office/drawing/2014/main" val="61438817"/>
                    </a:ext>
                  </a:extLst>
                </a:gridCol>
              </a:tblGrid>
              <a:tr h="306821">
                <a:tc>
                  <a:txBody>
                    <a:bodyPr/>
                    <a:lstStyle/>
                    <a:p>
                      <a:r>
                        <a:rPr lang="ru-RU" sz="1800" dirty="0"/>
                        <a:t>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Назначение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775">
                <a:tc>
                  <a:txBody>
                    <a:bodyPr/>
                    <a:lstStyle/>
                    <a:p>
                      <a:pPr indent="269875" algn="l"/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Хранит информацию о пользователях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775">
                <a:tc>
                  <a:txBody>
                    <a:bodyPr/>
                    <a:lstStyle/>
                    <a:p>
                      <a:pPr indent="269875" algn="l"/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Хранит информацию об услугах.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093">
                <a:tc>
                  <a:txBody>
                    <a:bodyPr/>
                    <a:lstStyle/>
                    <a:p>
                      <a:pPr indent="269875" algn="l"/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Хранит отзывы клиентов.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093">
                <a:tc>
                  <a:txBody>
                    <a:bodyPr/>
                    <a:lstStyle/>
                    <a:p>
                      <a:pPr indent="269875" algn="l"/>
                      <a:r>
                        <a:rPr lang="en-US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Abonement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Хранение информации о абонементах.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093"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Coach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Хранение информации о тренерах.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8396183"/>
                  </a:ext>
                </a:extLst>
              </a:tr>
              <a:tr h="184093"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Refresh_Sessions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Хранит информацию для обновления токенов.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4611851"/>
                  </a:ext>
                </a:extLst>
              </a:tr>
              <a:tr h="184093"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Abonement_Service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Связывает абонементы с услугами.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2307072"/>
                  </a:ext>
                </a:extLst>
              </a:tr>
              <a:tr h="184093"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Coach_Review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Связывает тренеров с отзывами.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4658726"/>
                  </a:ext>
                </a:extLst>
              </a:tr>
              <a:tr h="213770"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Хранит информацию о заказах.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5526468"/>
                  </a:ext>
                </a:extLst>
              </a:tr>
              <a:tr h="272967">
                <a:tc>
                  <a:txBody>
                    <a:bodyPr/>
                    <a:lstStyle/>
                    <a:p>
                      <a:pPr indent="269875" algn="l"/>
                      <a:r>
                        <a:rPr lang="en-US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Coach_Service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Связывает тренеров с услугами.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804574"/>
                  </a:ext>
                </a:extLst>
              </a:tr>
              <a:tr h="368185">
                <a:tc>
                  <a:txBody>
                    <a:bodyPr/>
                    <a:lstStyle/>
                    <a:p>
                      <a:pPr indent="269875" algn="l"/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Training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/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Хранит информацию о тренировках.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4961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9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78F50F-498B-425B-B88A-5BC9A1FD6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478" y="178904"/>
            <a:ext cx="9114217" cy="630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E3AC71-A9BD-47DE-B7B2-18BB123F6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44" y="184314"/>
            <a:ext cx="9856935" cy="628158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3F35AA-76B3-443B-8334-53FB4832B0F4}"/>
              </a:ext>
            </a:extLst>
          </p:cNvPr>
          <p:cNvSpPr/>
          <p:nvPr/>
        </p:nvSpPr>
        <p:spPr>
          <a:xfrm>
            <a:off x="8928845" y="765720"/>
            <a:ext cx="316454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spcAft>
                <a:spcPts val="1200"/>
              </a:spcAft>
              <a:buFont typeface="+mj-lt"/>
              <a:buAutoNum type="arabicPeriod"/>
            </a:pPr>
            <a:r>
              <a:rPr lang="ru-RU" sz="14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Микросервисная</a:t>
            </a:r>
            <a:r>
              <a:rPr lang="ru-RU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архитектура.</a:t>
            </a:r>
          </a:p>
          <a:p>
            <a:pPr marL="457200">
              <a:spcAft>
                <a:spcPts val="1200"/>
              </a:spcAft>
              <a:buFont typeface="+mj-lt"/>
              <a:buAutoNum type="arabicPeriod"/>
            </a:pPr>
            <a:r>
              <a:rPr lang="ru-RU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Интеграция с внешним платежным шлюзом.</a:t>
            </a:r>
          </a:p>
          <a:p>
            <a:pPr marL="457200">
              <a:spcAft>
                <a:spcPts val="1200"/>
              </a:spcAft>
              <a:buFont typeface="+mj-lt"/>
              <a:buAutoNum type="arabicPeriod"/>
            </a:pPr>
            <a:r>
              <a:rPr lang="ru-RU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Объектное хранилище для хранения изображение</a:t>
            </a:r>
          </a:p>
          <a:p>
            <a:pPr marL="457200">
              <a:spcAft>
                <a:spcPts val="1200"/>
              </a:spcAft>
              <a:buFont typeface="+mj-lt"/>
              <a:buAutoNum type="arabicPeriod"/>
            </a:pPr>
            <a:r>
              <a:rPr lang="ru-RU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Онлайн-тренировки – браузерный </a:t>
            </a: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WebRTC.</a:t>
            </a:r>
            <a:endParaRPr lang="ru-RU" sz="14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Aft>
                <a:spcPts val="1200"/>
              </a:spcAft>
              <a:buFont typeface="+mj-lt"/>
              <a:buAutoNum type="arabicPeriod"/>
            </a:pPr>
            <a:endParaRPr lang="ru-RU" sz="14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89E46E8-9131-4EA8-9511-5FE78007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328" y="122862"/>
            <a:ext cx="3706687" cy="446779"/>
          </a:xfrm>
        </p:spPr>
        <p:txBody>
          <a:bodyPr>
            <a:normAutofit/>
          </a:bodyPr>
          <a:lstStyle/>
          <a:p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</a:t>
            </a:r>
            <a:endParaRPr lang="en-US" sz="2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91182B-9A0C-475E-80FA-1B81223B8765}"/>
              </a:ext>
            </a:extLst>
          </p:cNvPr>
          <p:cNvSpPr/>
          <p:nvPr/>
        </p:nvSpPr>
        <p:spPr>
          <a:xfrm>
            <a:off x="3119716" y="373561"/>
            <a:ext cx="8721217" cy="392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1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Архитектура веб-приложение</a:t>
            </a:r>
            <a:endParaRPr lang="en-US" sz="18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935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Используемые технологии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999597"/>
              </p:ext>
            </p:extLst>
          </p:nvPr>
        </p:nvGraphicFramePr>
        <p:xfrm>
          <a:off x="957646" y="1542972"/>
          <a:ext cx="9800052" cy="45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9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7183">
                  <a:extLst>
                    <a:ext uri="{9D8B030D-6E8A-4147-A177-3AD203B41FA5}">
                      <a16:colId xmlns:a16="http://schemas.microsoft.com/office/drawing/2014/main" val="61438817"/>
                    </a:ext>
                  </a:extLst>
                </a:gridCol>
                <a:gridCol w="2753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r>
                        <a:rPr lang="ru-RU" dirty="0"/>
                        <a:t>Технология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Версия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325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Golang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Язык серверной части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1.23.3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57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React.js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Библиотека клиентской части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18.2.0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325">
                <a:tc>
                  <a:txBody>
                    <a:bodyPr/>
                    <a:lstStyle/>
                    <a:p>
                      <a:r>
                        <a:rPr lang="en-US" dirty="0"/>
                        <a:t>PostgreSQL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База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069">
                <a:tc>
                  <a:txBody>
                    <a:bodyPr/>
                    <a:lstStyle/>
                    <a:p>
                      <a:r>
                        <a:rPr lang="en-US" dirty="0"/>
                        <a:t>Docker/Docker compose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Контейнеризация частей приложения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27.1.1/</a:t>
                      </a:r>
                      <a:r>
                        <a:rPr lang="en-US" dirty="0"/>
                        <a:t>2.29.1 desktop.1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069">
                <a:tc>
                  <a:txBody>
                    <a:bodyPr/>
                    <a:lstStyle/>
                    <a:p>
                      <a:r>
                        <a:rPr lang="en-US" dirty="0"/>
                        <a:t>Rest (Gin)</a:t>
                      </a:r>
                      <a:r>
                        <a:rPr lang="ru-RU" dirty="0"/>
                        <a:t>, </a:t>
                      </a:r>
                      <a:r>
                        <a:rPr lang="en-US" dirty="0" err="1"/>
                        <a:t>rpc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gRPC</a:t>
                      </a:r>
                      <a:r>
                        <a:rPr lang="en-US" dirty="0"/>
                        <a:t>),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WebSocket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Подходы коммуникации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1.10, 1.68, 1.6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396183"/>
                  </a:ext>
                </a:extLst>
              </a:tr>
              <a:tr h="599069">
                <a:tc>
                  <a:txBody>
                    <a:bodyPr/>
                    <a:lstStyle/>
                    <a:p>
                      <a:r>
                        <a:rPr lang="en-US" dirty="0"/>
                        <a:t>WebRTC (</a:t>
                      </a:r>
                      <a:r>
                        <a:rPr lang="ru-RU" dirty="0"/>
                        <a:t>браузерный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Концепция передачи медиа контента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/136.0.0.0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11851"/>
                  </a:ext>
                </a:extLst>
              </a:tr>
              <a:tr h="342325">
                <a:tc>
                  <a:txBody>
                    <a:bodyPr/>
                    <a:lstStyle/>
                    <a:p>
                      <a:r>
                        <a:rPr lang="en-US" dirty="0"/>
                        <a:t>Nginx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Веб-сервер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307072"/>
                  </a:ext>
                </a:extLst>
              </a:tr>
              <a:tr h="403857">
                <a:tc>
                  <a:txBody>
                    <a:bodyPr/>
                    <a:lstStyle/>
                    <a:p>
                      <a:r>
                        <a:rPr lang="en-US" dirty="0" err="1"/>
                        <a:t>LocalStack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Эмуляции сервисов </a:t>
                      </a:r>
                      <a:r>
                        <a:rPr lang="en-US" dirty="0"/>
                        <a:t>AWS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658726"/>
                  </a:ext>
                </a:extLst>
              </a:tr>
              <a:tr h="403857">
                <a:tc>
                  <a:txBody>
                    <a:bodyPr/>
                    <a:lstStyle/>
                    <a:p>
                      <a:r>
                        <a:rPr lang="en-US" dirty="0"/>
                        <a:t>Stripe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Платежная 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81.1.1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526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214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1BE215-72BE-45D4-9BB0-4F0DA5FDA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843" y="283740"/>
            <a:ext cx="8863487" cy="6059025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226197-470B-42A1-9559-C5C59D94AA32}"/>
              </a:ext>
            </a:extLst>
          </p:cNvPr>
          <p:cNvSpPr/>
          <p:nvPr/>
        </p:nvSpPr>
        <p:spPr>
          <a:xfrm>
            <a:off x="-1" y="504728"/>
            <a:ext cx="2563907" cy="1054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Покупка</a:t>
            </a:r>
            <a:br>
              <a:rPr lang="ru-RU" sz="2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Абонемента</a:t>
            </a:r>
            <a:endParaRPr lang="en-US" sz="28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121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B5A6DB-6258-430B-BDBC-698D09C90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793" y="313264"/>
            <a:ext cx="8320834" cy="590259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C41AAC5-B514-47C7-A6E2-65296FF22DB8}"/>
              </a:ext>
            </a:extLst>
          </p:cNvPr>
          <p:cNvSpPr/>
          <p:nvPr/>
        </p:nvSpPr>
        <p:spPr>
          <a:xfrm>
            <a:off x="0" y="643732"/>
            <a:ext cx="2563907" cy="1054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Онлайн-тренировки</a:t>
            </a:r>
            <a:endParaRPr lang="en-US" sz="28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92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138" y="212810"/>
            <a:ext cx="11170702" cy="1325870"/>
          </a:xfrm>
        </p:spPr>
        <p:txBody>
          <a:bodyPr/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 веб-приложения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161367" y="1969921"/>
            <a:ext cx="10883151" cy="2694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indent="-51435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2800" dirty="0">
                <a:latin typeface="+mn-lt"/>
              </a:rPr>
              <a:t>Ручное тестирование</a:t>
            </a:r>
            <a:endParaRPr lang="en-US" sz="2800" dirty="0">
              <a:latin typeface="+mn-lt"/>
            </a:endParaRPr>
          </a:p>
          <a:p>
            <a:pPr marL="971550" indent="-51435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800" dirty="0">
                <a:latin typeface="+mn-lt"/>
              </a:rPr>
              <a:t>Средства </a:t>
            </a:r>
            <a:r>
              <a:rPr lang="ru-RU" sz="2800" dirty="0" err="1">
                <a:latin typeface="+mn-lt"/>
              </a:rPr>
              <a:t>Postman</a:t>
            </a:r>
            <a:r>
              <a:rPr lang="ru-RU" sz="2800" dirty="0">
                <a:latin typeface="+mn-lt"/>
              </a:rPr>
              <a:t> и UI.</a:t>
            </a:r>
          </a:p>
          <a:p>
            <a:pPr marL="971550" indent="-514350">
              <a:lnSpc>
                <a:spcPct val="115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800" dirty="0">
                <a:effectLst/>
                <a:latin typeface="+mn-lt"/>
                <a:ea typeface="Times New Roman" panose="02020603050405020304" pitchFamily="18" charset="0"/>
              </a:rPr>
              <a:t>19 позитивных тестов</a:t>
            </a:r>
            <a:r>
              <a:rPr lang="ru-RU" sz="2800" dirty="0">
                <a:latin typeface="+mn-lt"/>
                <a:ea typeface="Times New Roman" panose="02020603050405020304" pitchFamily="18" charset="0"/>
              </a:rPr>
              <a:t> -</a:t>
            </a:r>
            <a:r>
              <a:rPr lang="ru-RU" sz="2800" dirty="0">
                <a:effectLst/>
                <a:latin typeface="+mn-lt"/>
                <a:ea typeface="Times New Roman" panose="02020603050405020304" pitchFamily="18" charset="0"/>
              </a:rPr>
              <a:t> 100% покрытие без учета негативного.</a:t>
            </a:r>
            <a:br>
              <a:rPr lang="ru-RU" sz="2800" dirty="0">
                <a:latin typeface="+mn-lt"/>
              </a:rPr>
            </a:br>
            <a:endParaRPr lang="ru-RU" sz="2800" dirty="0">
              <a:latin typeface="+mn-lt"/>
            </a:endParaRPr>
          </a:p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9382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8" y="365210"/>
            <a:ext cx="10788805" cy="132587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Экономическое обоснование проекта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C32937-EDEB-49C3-AC23-223A1488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85" y="1782749"/>
            <a:ext cx="10421804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73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420" y="1691080"/>
            <a:ext cx="10518338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+mn-lt"/>
              </a:rPr>
              <a:t>Было разработано веб-приложение для фитнес-центра «</a:t>
            </a:r>
            <a:r>
              <a:rPr lang="en-US" sz="2800" dirty="0" err="1">
                <a:latin typeface="+mn-lt"/>
              </a:rPr>
              <a:t>FitLab</a:t>
            </a:r>
            <a:r>
              <a:rPr lang="en-US" sz="2800" dirty="0">
                <a:latin typeface="+mn-lt"/>
              </a:rPr>
              <a:t>»</a:t>
            </a:r>
            <a:r>
              <a:rPr lang="ru-RU" sz="2800" dirty="0">
                <a:latin typeface="+mn-lt"/>
              </a:rPr>
              <a:t>.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latin typeface="+mn-lt"/>
              </a:rPr>
              <a:t>26 функций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latin typeface="+mn-lt"/>
              </a:rPr>
              <a:t>База данных из 11 таблиц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14 Docker-</a:t>
            </a:r>
            <a:r>
              <a:rPr lang="ru-RU" sz="2800" dirty="0">
                <a:latin typeface="+mn-lt"/>
              </a:rPr>
              <a:t>контейнеров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24 React-</a:t>
            </a:r>
            <a:r>
              <a:rPr lang="ru-RU" sz="2800" dirty="0">
                <a:latin typeface="+mn-lt"/>
              </a:rPr>
              <a:t>компонента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latin typeface="+mn-lt"/>
              </a:rPr>
              <a:t>13000 строк авторского кода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latin typeface="+mn-lt"/>
              </a:rPr>
              <a:t>Количество позитивных тестов – 19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2800">
                <a:latin typeface="+mn-lt"/>
              </a:rPr>
              <a:t>Покрытие </a:t>
            </a:r>
            <a:r>
              <a:rPr lang="ru-RU" sz="2800" dirty="0">
                <a:latin typeface="+mn-lt"/>
              </a:rPr>
              <a:t>кода тестами </a:t>
            </a:r>
            <a:r>
              <a:rPr lang="ru-RU" sz="2800">
                <a:latin typeface="+mn-lt"/>
              </a:rPr>
              <a:t>100% (</a:t>
            </a:r>
            <a:r>
              <a:rPr lang="ru-RU" sz="2800" dirty="0">
                <a:latin typeface="+mn-lt"/>
              </a:rPr>
              <a:t>исключая ошибочные исходы)</a:t>
            </a:r>
          </a:p>
          <a:p>
            <a:endParaRPr lang="ru-RU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769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8503" y="2393516"/>
            <a:ext cx="10518338" cy="1325870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51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E4242"/>
      </a:accent1>
      <a:accent2>
        <a:srgbClr val="757070"/>
      </a:accent2>
      <a:accent3>
        <a:srgbClr val="A5A5A5"/>
      </a:accent3>
      <a:accent4>
        <a:srgbClr val="FF0101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15508</TotalTime>
  <Words>503</Words>
  <Application>Microsoft Office PowerPoint</Application>
  <PresentationFormat>Произвольный</PresentationFormat>
  <Paragraphs>120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Symbol</vt:lpstr>
      <vt:lpstr>Times New Roman</vt:lpstr>
      <vt:lpstr>wingdings</vt:lpstr>
      <vt:lpstr>wingdings</vt:lpstr>
      <vt:lpstr>Тема Office</vt:lpstr>
      <vt:lpstr>МИНИСТЕРСТВО ОБРАЗОВАНИЯ РЕСПУБЛИКИ БЕЛАРУСЬ Учреждения образования «БЕЛОРУССКИЙ ГОСУДАРСТВЕННЫЙ  ТЕХНОЛОГИЧЕСКИЙ УНИВЕРСИТЕТ»  Факультет информационных технологий Кафедра программной инженерии    Тема дипломного проекта:  «Веб-приложение для фитнес-центра «FitLab»»              Дипломник:       Козляковский Данила Александрович              Руководитель:    ст. пр. Сухорукова Ирина Геннадьевна                                                        </vt:lpstr>
      <vt:lpstr>Актуальность</vt:lpstr>
      <vt:lpstr>Цель дипломного проекта</vt:lpstr>
      <vt:lpstr>Задачи дипломного проекта</vt:lpstr>
      <vt:lpstr>Прототипы и аналоги</vt:lpstr>
      <vt:lpstr>Проектирование</vt:lpstr>
      <vt:lpstr>Проектирование</vt:lpstr>
      <vt:lpstr>Презентация PowerPoint</vt:lpstr>
      <vt:lpstr>Проектирование</vt:lpstr>
      <vt:lpstr>Используемые технологии</vt:lpstr>
      <vt:lpstr>Презентация PowerPoint</vt:lpstr>
      <vt:lpstr>Презентация PowerPoint</vt:lpstr>
      <vt:lpstr>Тестирование веб-приложения</vt:lpstr>
      <vt:lpstr>Экономическое обоснование проекта</vt:lpstr>
      <vt:lpstr>Заключение</vt:lpstr>
      <vt:lpstr>Спасибо за внимание</vt:lpstr>
    </vt:vector>
  </TitlesOfParts>
  <Company>SAP Ariba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Ariba Supplier Management Innovation Overview</dc:title>
  <dc:creator>Lalitha Rajagopalan</dc:creator>
  <cp:keywords>2016/16:9/white</cp:keywords>
  <cp:lastModifiedBy>Данила Козляковский</cp:lastModifiedBy>
  <cp:revision>802</cp:revision>
  <dcterms:created xsi:type="dcterms:W3CDTF">2015-10-08T14:10:57Z</dcterms:created>
  <dcterms:modified xsi:type="dcterms:W3CDTF">2025-06-03T22:36:28Z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-504340922</vt:i4>
  </property>
  <property fmtid="{D5CDD505-2E9C-101B-9397-08002B2CF9AE}" pid="3" name="_NewReviewCycle">
    <vt:lpwstr/>
  </property>
  <property fmtid="{D5CDD505-2E9C-101B-9397-08002B2CF9AE}" pid="4" name="_EmailSubject">
    <vt:lpwstr>SM breakout session</vt:lpwstr>
  </property>
  <property fmtid="{D5CDD505-2E9C-101B-9397-08002B2CF9AE}" pid="5" name="_AuthorEmail">
    <vt:lpwstr>maria.elena.gammon@sap.com</vt:lpwstr>
  </property>
  <property fmtid="{D5CDD505-2E9C-101B-9397-08002B2CF9AE}" pid="6" name="_AuthorEmailDisplayName">
    <vt:lpwstr>Gammon, Maria Elena</vt:lpwstr>
  </property>
  <property fmtid="{D5CDD505-2E9C-101B-9397-08002B2CF9AE}" pid="7" name="_PreviousAdHocReviewCycleID">
    <vt:i4>-156448419</vt:i4>
  </property>
</Properties>
</file>