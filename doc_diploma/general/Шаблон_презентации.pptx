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notesMasterIdLst>
    <p:notesMasterId r:id="rId14"/>
  </p:notesMasterIdLst>
  <p:handoutMasterIdLst>
    <p:handoutMasterId r:id="rId15"/>
  </p:handoutMasterIdLst>
  <p:sldIdLst>
    <p:sldId id="500" r:id="rId2"/>
    <p:sldId id="542" r:id="rId3"/>
    <p:sldId id="577" r:id="rId4"/>
    <p:sldId id="544" r:id="rId5"/>
    <p:sldId id="546" r:id="rId6"/>
    <p:sldId id="548" r:id="rId7"/>
    <p:sldId id="566" r:id="rId8"/>
    <p:sldId id="575" r:id="rId9"/>
    <p:sldId id="576" r:id="rId10"/>
    <p:sldId id="568" r:id="rId11"/>
    <p:sldId id="560" r:id="rId12"/>
    <p:sldId id="578" r:id="rId13"/>
  </p:sldIdLst>
  <p:sldSz cx="12195175" cy="6859588"/>
  <p:notesSz cx="6797675" cy="9874250"/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489" userDrawn="1">
          <p15:clr>
            <a:srgbClr val="A4A3A4"/>
          </p15:clr>
        </p15:guide>
        <p15:guide id="4" orient="horz" pos="3001" userDrawn="1">
          <p15:clr>
            <a:srgbClr val="A4A3A4"/>
          </p15:clr>
        </p15:guide>
        <p15:guide id="5" pos="7478">
          <p15:clr>
            <a:srgbClr val="A4A3A4"/>
          </p15:clr>
        </p15:guide>
        <p15:guide id="6" pos="205">
          <p15:clr>
            <a:srgbClr val="A4A3A4"/>
          </p15:clr>
        </p15:guide>
        <p15:guide id="7" pos="3849">
          <p15:clr>
            <a:srgbClr val="A4A3A4"/>
          </p15:clr>
        </p15:guide>
        <p15:guide id="8" pos="4708">
          <p15:clr>
            <a:srgbClr val="A4A3A4"/>
          </p15:clr>
        </p15:guide>
        <p15:guide id="9" pos="4812">
          <p15:clr>
            <a:srgbClr val="A4A3A4"/>
          </p15:clr>
        </p15:guide>
        <p15:guide id="10" pos="2865">
          <p15:clr>
            <a:srgbClr val="A4A3A4"/>
          </p15:clr>
        </p15:guide>
        <p15:guide id="11" pos="29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351">
          <p15:clr>
            <a:srgbClr val="A4A3A4"/>
          </p15:clr>
        </p15:guide>
        <p15:guide id="3" pos="395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onebrook, Shannon" initials="SS" lastIdx="7" clrIdx="0">
    <p:extLst/>
  </p:cmAuthor>
  <p:cmAuthor id="2" name="Volha Chekun" initials="VC" lastIdx="36" clrIdx="1">
    <p:extLst>
      <p:ext uri="{19B8F6BF-5375-455C-9EA6-DF929625EA0E}">
        <p15:presenceInfo xmlns:p15="http://schemas.microsoft.com/office/powerpoint/2012/main" userId="S-1-5-21-307287956-644454935-2370743088-19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4E2E2"/>
    <a:srgbClr val="F0AB00"/>
    <a:srgbClr val="003283"/>
    <a:srgbClr val="FF0000"/>
    <a:srgbClr val="666666"/>
    <a:srgbClr val="2B3F7B"/>
    <a:srgbClr val="9C277B"/>
    <a:srgbClr val="D4652D"/>
    <a:srgbClr val="9E3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62" autoAdjust="0"/>
    <p:restoredTop sz="94991" autoAdjust="0"/>
  </p:normalViewPr>
  <p:slideViewPr>
    <p:cSldViewPr snapToGrid="0" showGuides="1">
      <p:cViewPr varScale="1">
        <p:scale>
          <a:sx n="115" d="100"/>
          <a:sy n="115" d="100"/>
        </p:scale>
        <p:origin x="540" y="114"/>
      </p:cViewPr>
      <p:guideLst>
        <p:guide orient="horz" pos="1489"/>
        <p:guide orient="horz" pos="3001"/>
        <p:guide pos="7478"/>
        <p:guide pos="205"/>
        <p:guide pos="3849"/>
        <p:guide pos="4708"/>
        <p:guide pos="4812"/>
        <p:guide pos="2865"/>
        <p:guide pos="29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5" d="100"/>
          <a:sy n="85" d="100"/>
        </p:scale>
        <p:origin x="-4200" y="-82"/>
      </p:cViewPr>
      <p:guideLst>
        <p:guide orient="horz" pos="3110"/>
        <p:guide pos="351"/>
        <p:guide pos="39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26008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‹#›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57213" y="661988"/>
            <a:ext cx="5715000" cy="3214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171" y="4548205"/>
            <a:ext cx="5709333" cy="4696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31497" y="9627396"/>
            <a:ext cx="934681" cy="2217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7D8C2C35-2B8A-446E-BEC0-FD36716C29A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1088776" rtl="0" eaLnBrk="1" latinLnBrk="0" hangingPunct="1">
      <a:buClr>
        <a:schemeClr val="accent1"/>
      </a:buClr>
      <a:buSzPct val="100000"/>
      <a:buFont typeface="Wingdings" pitchFamily="2" charset="2"/>
      <a:buChar char="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57188" indent="-176213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96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397" y="1122623"/>
            <a:ext cx="9146381" cy="2388153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397" y="3602872"/>
            <a:ext cx="9146381" cy="16561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91" indent="0" algn="ctr">
              <a:buNone/>
              <a:defRPr sz="2000"/>
            </a:lvl2pPr>
            <a:lvl3pPr marL="914583" indent="0" algn="ctr">
              <a:buNone/>
              <a:defRPr sz="1800"/>
            </a:lvl3pPr>
            <a:lvl4pPr marL="1371874" indent="0" algn="ctr">
              <a:buNone/>
              <a:defRPr sz="1600"/>
            </a:lvl4pPr>
            <a:lvl5pPr marL="1829166" indent="0" algn="ctr">
              <a:buNone/>
              <a:defRPr sz="1600"/>
            </a:lvl5pPr>
            <a:lvl6pPr marL="2286457" indent="0" algn="ctr">
              <a:buNone/>
              <a:defRPr sz="1600"/>
            </a:lvl6pPr>
            <a:lvl7pPr marL="2743749" indent="0" algn="ctr">
              <a:buNone/>
              <a:defRPr sz="1600"/>
            </a:lvl7pPr>
            <a:lvl8pPr marL="3201040" indent="0" algn="ctr">
              <a:buNone/>
              <a:defRPr sz="1600"/>
            </a:lvl8pPr>
            <a:lvl9pPr marL="3658332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204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070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2067" y="1710134"/>
            <a:ext cx="10518338" cy="2853398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2067" y="4590526"/>
            <a:ext cx="10518338" cy="15005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9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58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87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91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4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7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246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418" y="1826048"/>
            <a:ext cx="5182949" cy="435234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3808" y="1826048"/>
            <a:ext cx="5182949" cy="435234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02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365210"/>
            <a:ext cx="10518338" cy="132587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40007" y="1681552"/>
            <a:ext cx="5159130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40007" y="2505655"/>
            <a:ext cx="5159130" cy="3685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3807" y="1681552"/>
            <a:ext cx="5184538" cy="824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91" indent="0">
              <a:buNone/>
              <a:defRPr sz="2000" b="1"/>
            </a:lvl2pPr>
            <a:lvl3pPr marL="914583" indent="0">
              <a:buNone/>
              <a:defRPr sz="1800" b="1"/>
            </a:lvl3pPr>
            <a:lvl4pPr marL="1371874" indent="0">
              <a:buNone/>
              <a:defRPr sz="1600" b="1"/>
            </a:lvl4pPr>
            <a:lvl5pPr marL="1829166" indent="0">
              <a:buNone/>
              <a:defRPr sz="1600" b="1"/>
            </a:lvl5pPr>
            <a:lvl6pPr marL="2286457" indent="0">
              <a:buNone/>
              <a:defRPr sz="1600" b="1"/>
            </a:lvl6pPr>
            <a:lvl7pPr marL="2743749" indent="0">
              <a:buNone/>
              <a:defRPr sz="1600" b="1"/>
            </a:lvl7pPr>
            <a:lvl8pPr marL="3201040" indent="0">
              <a:buNone/>
              <a:defRPr sz="1600" b="1"/>
            </a:lvl8pPr>
            <a:lvl9pPr marL="3658332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3807" y="2505655"/>
            <a:ext cx="5184538" cy="368544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209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757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065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>
              <a:defRPr sz="3201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94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0007" y="457306"/>
            <a:ext cx="3933261" cy="1600571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4538" y="987654"/>
            <a:ext cx="6173807" cy="4874754"/>
          </a:xfrm>
        </p:spPr>
        <p:txBody>
          <a:bodyPr/>
          <a:lstStyle>
            <a:lvl1pPr marL="0" indent="0">
              <a:buNone/>
              <a:defRPr sz="3201"/>
            </a:lvl1pPr>
            <a:lvl2pPr marL="457291" indent="0">
              <a:buNone/>
              <a:defRPr sz="2801"/>
            </a:lvl2pPr>
            <a:lvl3pPr marL="914583" indent="0">
              <a:buNone/>
              <a:defRPr sz="2400"/>
            </a:lvl3pPr>
            <a:lvl4pPr marL="1371874" indent="0">
              <a:buNone/>
              <a:defRPr sz="2000"/>
            </a:lvl4pPr>
            <a:lvl5pPr marL="1829166" indent="0">
              <a:buNone/>
              <a:defRPr sz="2000"/>
            </a:lvl5pPr>
            <a:lvl6pPr marL="2286457" indent="0">
              <a:buNone/>
              <a:defRPr sz="2000"/>
            </a:lvl6pPr>
            <a:lvl7pPr marL="2743749" indent="0">
              <a:buNone/>
              <a:defRPr sz="2000"/>
            </a:lvl7pPr>
            <a:lvl8pPr marL="3201040" indent="0">
              <a:buNone/>
              <a:defRPr sz="2000"/>
            </a:lvl8pPr>
            <a:lvl9pPr marL="365833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40007" y="2057876"/>
            <a:ext cx="3933261" cy="3812471"/>
          </a:xfrm>
        </p:spPr>
        <p:txBody>
          <a:bodyPr/>
          <a:lstStyle>
            <a:lvl1pPr marL="0" indent="0">
              <a:buNone/>
              <a:defRPr sz="1600"/>
            </a:lvl1pPr>
            <a:lvl2pPr marL="457291" indent="0">
              <a:buNone/>
              <a:defRPr sz="1400"/>
            </a:lvl2pPr>
            <a:lvl3pPr marL="914583" indent="0">
              <a:buNone/>
              <a:defRPr sz="1200"/>
            </a:lvl3pPr>
            <a:lvl4pPr marL="1371874" indent="0">
              <a:buNone/>
              <a:defRPr sz="1000"/>
            </a:lvl4pPr>
            <a:lvl5pPr marL="1829166" indent="0">
              <a:buNone/>
              <a:defRPr sz="1000"/>
            </a:lvl5pPr>
            <a:lvl6pPr marL="2286457" indent="0">
              <a:buNone/>
              <a:defRPr sz="1000"/>
            </a:lvl6pPr>
            <a:lvl7pPr marL="2743749" indent="0">
              <a:buNone/>
              <a:defRPr sz="1000"/>
            </a:lvl7pPr>
            <a:lvl8pPr marL="3201040" indent="0">
              <a:buNone/>
              <a:defRPr sz="1000"/>
            </a:lvl8pPr>
            <a:lvl9pPr marL="3658332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82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7711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7172" y="365209"/>
            <a:ext cx="2629585" cy="581318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418" y="365209"/>
            <a:ext cx="7736314" cy="581318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292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with picture - shor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7999" y="324075"/>
            <a:ext cx="10620000" cy="923330"/>
          </a:xfrm>
        </p:spPr>
        <p:txBody>
          <a:bodyPr anchor="t" anchorCtr="0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Short Presentation Title</a:t>
            </a:r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67999" y="1512000"/>
            <a:ext cx="10620000" cy="276999"/>
          </a:xfrm>
        </p:spPr>
        <p:txBody>
          <a:bodyPr anchor="b" anchorCtr="0">
            <a:spAutoFit/>
          </a:bodyPr>
          <a:lstStyle>
            <a:lvl1pPr marL="0" marR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800" b="0">
                <a:solidFill>
                  <a:sysClr val="windowText" lastClr="000000"/>
                </a:solidFill>
              </a:defRPr>
            </a:lvl1pPr>
            <a:lvl2pPr marL="544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0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5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1800" dirty="0"/>
              <a:t>Speaker’s Name, SAP / Month 00, 2016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99" y="2115530"/>
            <a:ext cx="1477566" cy="28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8" y="6083725"/>
            <a:ext cx="916759" cy="4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37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24000" y="1691078"/>
            <a:ext cx="11545200" cy="43920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7579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 noProof="0" dirty="0"/>
              <a:t>Insert page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8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9" y="365210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419" y="1826048"/>
            <a:ext cx="10518338" cy="43523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418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0EFEF-2CAD-4A38-B183-5532D8FFC417}" type="datetimeFigureOut">
              <a:rPr lang="en-US" smtClean="0"/>
              <a:t>5/29/2019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9652" y="6357822"/>
            <a:ext cx="4115872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2843" y="6357822"/>
            <a:ext cx="2743914" cy="365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93DAE-5736-476F-B9D8-B9146396831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32"/>
          <p:cNvSpPr/>
          <p:nvPr userDrawn="1"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" name="Rectangle 94"/>
          <p:cNvSpPr/>
          <p:nvPr userDrawn="1"/>
        </p:nvSpPr>
        <p:spPr bwMode="white">
          <a:xfrm>
            <a:off x="324000" y="6537251"/>
            <a:ext cx="11545200" cy="324075"/>
          </a:xfrm>
          <a:prstGeom prst="rect">
            <a:avLst/>
          </a:prstGeom>
          <a:solidFill>
            <a:schemeClr val="tx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" name="TextBox 8"/>
          <p:cNvSpPr txBox="1"/>
          <p:nvPr userDrawn="1"/>
        </p:nvSpPr>
        <p:spPr bwMode="black">
          <a:xfrm>
            <a:off x="324000" y="6630039"/>
            <a:ext cx="3401577" cy="138499"/>
          </a:xfrm>
          <a:prstGeom prst="rect">
            <a:avLst/>
          </a:prstGeom>
          <a:noFill/>
        </p:spPr>
        <p:txBody>
          <a:bodyPr wrap="none" lIns="85730" tIns="0" rIns="0" bIns="0" rtlCol="0">
            <a:spAutoFit/>
          </a:bodyPr>
          <a:lstStyle/>
          <a:p>
            <a:pPr marL="133200" indent="-133200" algn="l">
              <a:buClr>
                <a:schemeClr val="bg1"/>
              </a:buClr>
              <a:buFont typeface="Arial" pitchFamily="34" charset="0"/>
              <a:buChar char="©"/>
              <a:tabLst/>
            </a:pPr>
            <a:r>
              <a:rPr lang="en-US" sz="900" noProof="0" dirty="0">
                <a:solidFill>
                  <a:schemeClr val="bg1"/>
                </a:solidFill>
              </a:rPr>
              <a:t>2016 SAP SE or an SAP affiliate company. All rights reserved.</a:t>
            </a:r>
          </a:p>
        </p:txBody>
      </p:sp>
      <p:sp>
        <p:nvSpPr>
          <p:cNvPr id="10" name="TextBox 9"/>
          <p:cNvSpPr txBox="1"/>
          <p:nvPr userDrawn="1"/>
        </p:nvSpPr>
        <p:spPr bwMode="black">
          <a:xfrm>
            <a:off x="11640519" y="6630039"/>
            <a:ext cx="227631" cy="138499"/>
          </a:xfrm>
          <a:prstGeom prst="rect">
            <a:avLst/>
          </a:prstGeom>
          <a:noFill/>
        </p:spPr>
        <p:txBody>
          <a:bodyPr wrap="none" lIns="0" tIns="0" rIns="85730" bIns="0" rtlCol="0">
            <a:spAutoFit/>
          </a:bodyPr>
          <a:lstStyle/>
          <a:p>
            <a:pPr marL="111525" indent="-111525" algn="r">
              <a:buClr>
                <a:schemeClr val="accent2"/>
              </a:buClr>
              <a:buFont typeface="Arial" pitchFamily="34" charset="0"/>
              <a:buNone/>
            </a:pPr>
            <a:fld id="{0BDC132A-5C91-4078-9777-31DA19A62E0A}" type="slidenum">
              <a:rPr lang="en-US" sz="900" baseline="0" noProof="0" smtClean="0">
                <a:solidFill>
                  <a:schemeClr val="bg1"/>
                </a:solidFill>
              </a:rPr>
              <a:pPr marL="111525" indent="-111525" algn="r">
                <a:buClr>
                  <a:schemeClr val="accent2"/>
                </a:buClr>
                <a:buFont typeface="Arial" pitchFamily="34" charset="0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</a:endParaRPr>
          </a:p>
        </p:txBody>
      </p:sp>
      <p:sp>
        <p:nvSpPr>
          <p:cNvPr id="11" name="Information_Classification"/>
          <p:cNvSpPr txBox="1"/>
          <p:nvPr userDrawn="1"/>
        </p:nvSpPr>
        <p:spPr>
          <a:xfrm>
            <a:off x="10718800" y="6623893"/>
            <a:ext cx="500137" cy="13849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l" fontAlgn="base">
              <a:spcBef>
                <a:spcPts val="6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kumimoji="0" lang="en-US" sz="900" b="0" i="0" u="none" kern="0" baseline="0" dirty="0">
                <a:solidFill>
                  <a:srgbClr val="FFFFFF"/>
                </a:solidFill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  <a:sym typeface="Arial" panose="020B0604020202020204" pitchFamily="34" charset="0"/>
              </a:rPr>
              <a:t>Customer</a:t>
            </a:r>
          </a:p>
        </p:txBody>
      </p:sp>
    </p:spTree>
    <p:extLst>
      <p:ext uri="{BB962C8B-B14F-4D97-AF65-F5344CB8AC3E}">
        <p14:creationId xmlns:p14="http://schemas.microsoft.com/office/powerpoint/2010/main" val="77997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4" r:id="rId14"/>
  </p:sldLayoutIdLst>
  <p:hf sldNum="0" hdr="0" ftr="0" dt="0"/>
  <p:txStyles>
    <p:titleStyle>
      <a:lvl1pPr algn="l" defTabSz="914583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46" indent="-228646" algn="l" defTabSz="91458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229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520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811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103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394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86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977" indent="-228646" algn="l" defTabSz="91458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91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583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874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9166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457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749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40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332" algn="l" defTabSz="91458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463528F-7517-49F6-A62B-68EA3872F768}"/>
              </a:ext>
            </a:extLst>
          </p:cNvPr>
          <p:cNvSpPr/>
          <p:nvPr/>
        </p:nvSpPr>
        <p:spPr bwMode="gray">
          <a:xfrm>
            <a:off x="324000" y="162038"/>
            <a:ext cx="11545200" cy="5688256"/>
          </a:xfrm>
          <a:prstGeom prst="rect">
            <a:avLst/>
          </a:prstGeom>
          <a:solidFill>
            <a:schemeClr val="bg1">
              <a:alpha val="75000"/>
            </a:schemeClr>
          </a:solidFill>
          <a:ln w="6350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 smtClean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 smtClean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 smtClean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 smtClean="0"/>
          </a:p>
          <a:p>
            <a:pPr algn="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ru-RU" sz="2000" dirty="0" smtClean="0"/>
          </a:p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ru-RU" sz="2000" dirty="0" smtClean="0"/>
              <a:t>			</a:t>
            </a:r>
            <a:r>
              <a:rPr lang="ru-RU" dirty="0"/>
              <a:t/>
            </a:r>
            <a:br>
              <a:rPr lang="ru-RU" dirty="0"/>
            </a:br>
            <a:endParaRPr kumimoji="0" lang="en-US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" name="Rectangle 10"/>
          <p:cNvSpPr/>
          <p:nvPr/>
        </p:nvSpPr>
        <p:spPr bwMode="gray">
          <a:xfrm>
            <a:off x="324000" y="0"/>
            <a:ext cx="11545200" cy="162038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lIns="107163" tIns="85730" rIns="107163" bIns="85730" rtlCol="0" anchor="ctr"/>
          <a:lstStyle/>
          <a:p>
            <a:pPr marR="0" algn="ctr" defTabSz="108877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00" y="172078"/>
            <a:ext cx="11650530" cy="5944934"/>
          </a:xfrm>
        </p:spPr>
        <p:txBody>
          <a:bodyPr/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РЕСПУБЛИКИ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БЕЛАРУСЬ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«БЕЛОРУССКИЙ ГОСУДАРСТВЕННЫЙ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УНИВЕРСИТЕТ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информационных технологий</a:t>
            </a:r>
            <a:b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</a:t>
            </a:r>
            <a:r>
              <a:rPr lang="ru-RU" alt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программной инженерии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дипломного проекта: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Тема_дипломного_проекта</a:t>
            </a:r>
            <a:r>
              <a:rPr lang="ru-RU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      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Дипломник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ФИО</a:t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Руководитель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должность ФИО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	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b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70DD81-2FD7-4C5A-B58B-8FF0F815BC38}"/>
              </a:ext>
            </a:extLst>
          </p:cNvPr>
          <p:cNvSpPr/>
          <p:nvPr/>
        </p:nvSpPr>
        <p:spPr bwMode="gray">
          <a:xfrm>
            <a:off x="323999" y="5850294"/>
            <a:ext cx="11545201" cy="1009294"/>
          </a:xfrm>
          <a:prstGeom prst="rect">
            <a:avLst/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ru-RU" sz="2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Минск</a:t>
            </a:r>
            <a:r>
              <a:rPr kumimoji="0" lang="ru-RU" sz="2000" b="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 2019</a:t>
            </a:r>
            <a:endParaRPr kumimoji="0" lang="en-US" sz="20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Arial Unicode MS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4000" y="1856509"/>
            <a:ext cx="1643345" cy="895927"/>
          </a:xfrm>
          <a:prstGeom prst="rect">
            <a:avLst/>
          </a:prstGeom>
          <a:solidFill>
            <a:srgbClr val="F8F8F8"/>
          </a:solidFill>
          <a:ln>
            <a:solidFill>
              <a:srgbClr val="F8F8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7241" y="5943251"/>
            <a:ext cx="778408" cy="86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8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ru-RU" b="0" dirty="0" smtClean="0"/>
          </a:p>
          <a:p>
            <a:pPr marL="0" indent="0">
              <a:buNone/>
            </a:pPr>
            <a:r>
              <a:rPr lang="ru-RU" b="0" dirty="0" smtClean="0"/>
              <a:t>			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838419" y="1501943"/>
            <a:ext cx="10909724" cy="1546544"/>
          </a:xfrm>
          <a:prstGeom prst="rect">
            <a:avLst/>
          </a:prstGeom>
        </p:spPr>
        <p:txBody>
          <a:bodyPr>
            <a:norm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/>
              <a:t>Короткое введение в предметную область.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 smtClean="0"/>
              <a:t>Актуальность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1515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Прототипы и аналоги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358587" y="1906933"/>
            <a:ext cx="7338997" cy="517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Обзор (можно объединить </a:t>
            </a:r>
            <a:r>
              <a:rPr lang="ru-RU" sz="24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со слайдом 2</a:t>
            </a:r>
            <a:r>
              <a:rPr lang="ru-RU" sz="2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87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lang="ru-RU" dirty="0" smtClean="0"/>
              <a:t> </a:t>
            </a:r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проекта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85072" y="1843478"/>
            <a:ext cx="11545200" cy="525649"/>
          </a:xfrm>
        </p:spPr>
        <p:txBody>
          <a:bodyPr/>
          <a:lstStyle/>
          <a:p>
            <a:pPr marL="109728" indent="0" algn="just">
              <a:buNone/>
            </a:pPr>
            <a:r>
              <a:rPr lang="ru-RU" sz="2800" dirty="0" smtClean="0"/>
              <a:t>	Текст.</a:t>
            </a:r>
            <a:endParaRPr lang="ru-RU" sz="2800" dirty="0"/>
          </a:p>
          <a:p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38419" y="2475176"/>
            <a:ext cx="10518338" cy="1325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5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 дипломного проекта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Текст 2"/>
          <p:cNvSpPr txBox="1">
            <a:spLocks/>
          </p:cNvSpPr>
          <p:nvPr/>
        </p:nvSpPr>
        <p:spPr>
          <a:xfrm>
            <a:off x="85072" y="3907095"/>
            <a:ext cx="11545200" cy="525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46" indent="-228646" algn="l" defTabSz="91458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93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229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520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811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5103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394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686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977" indent="-228646" algn="l" defTabSz="91458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 algn="just">
              <a:buFont typeface="Arial" panose="020B0604020202020204" pitchFamily="34" charset="0"/>
              <a:buNone/>
            </a:pPr>
            <a:r>
              <a:rPr lang="ru-RU" sz="2800" dirty="0" smtClean="0"/>
              <a:t>	Список.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61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Используемые технологии и средства разработки 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2907735"/>
              </p:ext>
            </p:extLst>
          </p:nvPr>
        </p:nvGraphicFramePr>
        <p:xfrm>
          <a:off x="1388225" y="2240440"/>
          <a:ext cx="877728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693">
                  <a:extLst>
                    <a:ext uri="{9D8B030D-6E8A-4147-A177-3AD203B41FA5}">
                      <a16:colId xmlns:a16="http://schemas.microsoft.com/office/drawing/2014/main" val="61438817"/>
                    </a:ext>
                  </a:extLst>
                </a:gridCol>
                <a:gridCol w="26499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Технология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Описание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Версия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921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9" y="304250"/>
            <a:ext cx="10518338" cy="1325870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838418" y="1926830"/>
            <a:ext cx="8721217" cy="1886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Структурная схема </a:t>
            </a: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проекта</a:t>
            </a:r>
            <a:endParaRPr lang="en-US" sz="2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Проектирование </a:t>
            </a: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БД</a:t>
            </a:r>
            <a:endParaRPr lang="en-US" sz="2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(Графический </a:t>
            </a: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материал </a:t>
            </a:r>
            <a:r>
              <a:rPr lang="ru-RU" sz="28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обязательно)</a:t>
            </a:r>
            <a:endParaRPr lang="en-US" sz="2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42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419" y="222970"/>
            <a:ext cx="10518338" cy="1325870"/>
          </a:xfrm>
        </p:spPr>
        <p:txBody>
          <a:bodyPr>
            <a:normAutofit/>
          </a:bodyPr>
          <a:lstStyle/>
          <a:p>
            <a:r>
              <a:rPr lang="ru-RU" sz="4400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</a:t>
            </a:r>
            <a:endParaRPr lang="en-US" sz="44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838419" y="1985019"/>
            <a:ext cx="7998027" cy="1857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Диаграммы классов</a:t>
            </a:r>
            <a:endParaRPr lang="en-US" sz="2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Блок-схемы алгоритмов</a:t>
            </a:r>
            <a:endParaRPr lang="en-US" sz="2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Особенности реализации</a:t>
            </a:r>
            <a:endParaRPr lang="en-US" sz="2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48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138" y="212810"/>
            <a:ext cx="11170702" cy="1325870"/>
          </a:xfrm>
        </p:spPr>
        <p:txBody>
          <a:bodyPr/>
          <a:lstStyle/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 системы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503138" y="1960956"/>
            <a:ext cx="6096000" cy="170367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 smtClean="0">
                <a:latin typeface="+mn-lt"/>
              </a:rPr>
              <a:t>Описание </a:t>
            </a:r>
            <a:r>
              <a:rPr lang="ru-RU" sz="2800" dirty="0">
                <a:latin typeface="+mn-lt"/>
              </a:rPr>
              <a:t>или в табличном </a:t>
            </a:r>
            <a:r>
              <a:rPr lang="ru-RU" sz="2800" dirty="0" smtClean="0">
                <a:latin typeface="+mn-lt"/>
              </a:rPr>
              <a:t>виде Указать </a:t>
            </a:r>
            <a:r>
              <a:rPr lang="ru-RU" sz="2800" dirty="0">
                <a:latin typeface="+mn-lt"/>
              </a:rPr>
              <a:t>% </a:t>
            </a:r>
            <a:r>
              <a:rPr lang="ru-RU" sz="2800" dirty="0" smtClean="0">
                <a:latin typeface="+mn-lt"/>
              </a:rPr>
              <a:t>покрытия</a:t>
            </a:r>
          </a:p>
          <a:p>
            <a:pPr marL="4572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938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3138" y="212810"/>
            <a:ext cx="11170702" cy="1325870"/>
          </a:xfrm>
        </p:spPr>
        <p:txBody>
          <a:bodyPr/>
          <a:lstStyle/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проекта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1870364" y="2379482"/>
            <a:ext cx="7275224" cy="188667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STOP</a:t>
            </a: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r>
              <a:rPr lang="ru-RU" sz="28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dirty="0" smtClean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line</a:t>
            </a: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демонстрация проекта ~ 3 мин.</a:t>
            </a:r>
            <a:endParaRPr lang="en-US" sz="2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sz="2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(подготовить видеоролик)</a:t>
            </a:r>
            <a:endParaRPr lang="en-US" sz="2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8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Экономическое обоснование цены программного средства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7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420" y="1691080"/>
            <a:ext cx="1051833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+mn-lt"/>
              </a:rPr>
              <a:t>Выводы</a:t>
            </a:r>
          </a:p>
          <a:p>
            <a:endParaRPr lang="ru-RU" sz="2800" dirty="0" smtClean="0">
              <a:latin typeface="+mn-lt"/>
            </a:endParaRPr>
          </a:p>
          <a:p>
            <a:r>
              <a:rPr lang="ru-RU" sz="2800" dirty="0">
                <a:latin typeface="+mn-lt"/>
              </a:rPr>
              <a:t>Количество модулей, таблиц данных, строк кода и т.п.</a:t>
            </a:r>
            <a:endParaRPr lang="en-US" sz="2800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76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8503" y="2393516"/>
            <a:ext cx="10518338" cy="1325870"/>
          </a:xfrm>
        </p:spPr>
        <p:txBody>
          <a:bodyPr/>
          <a:lstStyle/>
          <a:p>
            <a:pPr algn="ctr"/>
            <a:r>
              <a:rPr lang="ru-RU" b="1" dirty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  <a:endParaRPr lang="en-US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8588" y="6589059"/>
            <a:ext cx="10998169" cy="2061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E4242"/>
      </a:accent1>
      <a:accent2>
        <a:srgbClr val="757070"/>
      </a:accent2>
      <a:accent3>
        <a:srgbClr val="A5A5A5"/>
      </a:accent3>
      <a:accent4>
        <a:srgbClr val="FF0101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13481</TotalTime>
  <Words>106</Words>
  <Application>Microsoft Office PowerPoint</Application>
  <PresentationFormat>Произвольный</PresentationFormat>
  <Paragraphs>47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Symbol</vt:lpstr>
      <vt:lpstr>Times New Roman</vt:lpstr>
      <vt:lpstr>Wingdings</vt:lpstr>
      <vt:lpstr>Wingdings</vt:lpstr>
      <vt:lpstr>Тема Office</vt:lpstr>
      <vt:lpstr>МИНИСТЕРСТВО ОБРАЗОВАНИЯ РЕСПУБЛИКИ БЕЛАРУСЬ Учреждения образования «БЕЛОРУССКИЙ ГОСУДАРСТВЕННЫЙ  ТЕХНОЛОГИЧЕСКИЙ УНИВЕРСИТЕТ»  Факультет информационных технологий Кафедра программной инженерии    Тема дипломного проекта:  «Тема_дипломного_проекта»              Дипломник:       ФИО                                   Руководитель:    должность ФИО                                                        </vt:lpstr>
      <vt:lpstr>Актуальность</vt:lpstr>
      <vt:lpstr>Прототипы и аналоги</vt:lpstr>
      <vt:lpstr>Цель дипломного проекта</vt:lpstr>
      <vt:lpstr>Используемые технологии и средства разработки </vt:lpstr>
      <vt:lpstr>Проектирование</vt:lpstr>
      <vt:lpstr>Разработка</vt:lpstr>
      <vt:lpstr>Тестирование системы</vt:lpstr>
      <vt:lpstr>Демонстрация проекта</vt:lpstr>
      <vt:lpstr>Экономическое обоснование цены программного средства</vt:lpstr>
      <vt:lpstr>Заключение</vt:lpstr>
      <vt:lpstr>Спасибо за внимание</vt:lpstr>
    </vt:vector>
  </TitlesOfParts>
  <Company>SAP Ariba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Ariba Supplier Management Innovation Overview</dc:title>
  <dc:creator>Lalitha Rajagopalan</dc:creator>
  <cp:keywords>2016/16:9/white</cp:keywords>
  <cp:lastModifiedBy>User</cp:lastModifiedBy>
  <cp:revision>655</cp:revision>
  <dcterms:created xsi:type="dcterms:W3CDTF">2015-10-08T14:10:57Z</dcterms:created>
  <dcterms:modified xsi:type="dcterms:W3CDTF">2019-05-29T13:10:34Z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-504340922</vt:i4>
  </property>
  <property fmtid="{D5CDD505-2E9C-101B-9397-08002B2CF9AE}" pid="3" name="_NewReviewCycle">
    <vt:lpwstr/>
  </property>
  <property fmtid="{D5CDD505-2E9C-101B-9397-08002B2CF9AE}" pid="4" name="_EmailSubject">
    <vt:lpwstr>SM breakout session</vt:lpwstr>
  </property>
  <property fmtid="{D5CDD505-2E9C-101B-9397-08002B2CF9AE}" pid="5" name="_AuthorEmail">
    <vt:lpwstr>maria.elena.gammon@sap.com</vt:lpwstr>
  </property>
  <property fmtid="{D5CDD505-2E9C-101B-9397-08002B2CF9AE}" pid="6" name="_AuthorEmailDisplayName">
    <vt:lpwstr>Gammon, Maria Elena</vt:lpwstr>
  </property>
  <property fmtid="{D5CDD505-2E9C-101B-9397-08002B2CF9AE}" pid="7" name="_PreviousAdHocReviewCycleID">
    <vt:i4>-156448419</vt:i4>
  </property>
</Properties>
</file>